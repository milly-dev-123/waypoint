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5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256032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0" b="1" i="0">
                <a:solidFill>
                  <a:srgbClr val="0E9F8E"/>
                </a:solidFill>
                <a:latin typeface="Calibri"/>
              </a:rPr>
              <a:t>W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2286000"/>
            <a:ext cx="201168" cy="201168"/>
          </a:xfrm>
          <a:prstGeom prst="ellipse">
            <a:avLst/>
          </a:prstGeom>
          <a:solidFill>
            <a:srgbClr val="E0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23317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0F4F0"/>
                </a:solidFill>
                <a:latin typeface="Calibri"/>
              </a:rPr>
              <a:t>CONSENT-FIRST LOCATION SHARING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697480"/>
            <a:ext cx="749807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Waypoint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977639"/>
            <a:ext cx="749807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E0F4F0"/>
                </a:solidFill>
                <a:latin typeface="Calibri"/>
              </a:rPr>
              <a:t>Share where you are — only when you choose,</a:t>
            </a:r>
          </a:p>
          <a:p>
            <a:pPr algn="l"/>
            <a:r>
              <a:rPr sz="1800" b="0" i="1">
                <a:solidFill>
                  <a:srgbClr val="E0F4F0"/>
                </a:solidFill>
                <a:latin typeface="Calibri"/>
              </a:rPr>
              <a:t>only with who you choose, only for as long as you choose.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6126480"/>
            <a:ext cx="164592" cy="164592"/>
          </a:xfrm>
          <a:prstGeom prst="ellipse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05332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0F4F0"/>
                </a:solidFill>
                <a:latin typeface="Calibri"/>
              </a:rPr>
              <a:t>Project overview  ·  Phase 2 shipped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640080"/>
            <a:ext cx="256032" cy="256032"/>
          </a:xfrm>
          <a:prstGeom prst="ellipse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60350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9F8E"/>
                </a:solidFill>
                <a:latin typeface="Calibri"/>
              </a:rPr>
              <a:t>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C2026"/>
                </a:solidFill>
                <a:latin typeface="Calibri"/>
              </a:rPr>
              <a:t>A web app where sharing your location</a:t>
            </a:r>
          </a:p>
          <a:p>
            <a:pPr algn="l"/>
            <a:r>
              <a:rPr sz="4000" b="1" i="0">
                <a:solidFill>
                  <a:srgbClr val="1C2026"/>
                </a:solidFill>
                <a:latin typeface="Calibri"/>
              </a:rPr>
              <a:t>is always a deliberate, revocable 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666E7A"/>
                </a:solidFill>
                <a:latin typeface="Calibri"/>
              </a:rPr>
              <a:t>Waypoint pairs small private groups with a public map of humanitarian places — water, shelter, charging, hazards — so communities can coordinate without surveillance.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852160"/>
            <a:ext cx="1097280" cy="45000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9F8E"/>
                </a:solidFill>
                <a:latin typeface="Calibri"/>
              </a:rPr>
              <a:t>TWO COORDINATED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C2026"/>
                </a:solidFill>
                <a:latin typeface="Calibri"/>
              </a:rPr>
              <a:t>Built for people, not for tracking.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530352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560320"/>
            <a:ext cx="640080" cy="640080"/>
          </a:xfrm>
          <a:prstGeom prst="ellipse">
            <a:avLst/>
          </a:prstGeom>
          <a:solidFill>
            <a:srgbClr val="E0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0E9F8E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C2026"/>
                </a:solidFill>
                <a:latin typeface="Calibri"/>
              </a:rPr>
              <a:t>Private Circles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66E7A"/>
                </a:solidFill>
                <a:latin typeface="Calibri"/>
              </a:rPr>
              <a:t>Small opt-in groups share live location and drop shared pins — meeting points, parking spots, “I’m here.”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194560"/>
            <a:ext cx="530352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29400" y="2560320"/>
            <a:ext cx="640080" cy="640080"/>
          </a:xfrm>
          <a:prstGeom prst="ellipse">
            <a:avLst/>
          </a:prstGeom>
          <a:solidFill>
            <a:srgbClr val="E0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5603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0E9F8E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47472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C2026"/>
                </a:solidFill>
                <a:latin typeface="Calibri"/>
              </a:rPr>
              <a:t>Public Humanitarian 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1480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66E7A"/>
                </a:solidFill>
                <a:latin typeface="Calibri"/>
              </a:rPr>
              <a:t>A community map of places and services — water points, food distribution, shelters, charging, hazards, blocked roads.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640080"/>
            <a:ext cx="256032" cy="256032"/>
          </a:xfrm>
          <a:prstGeom prst="ellipse">
            <a:avLst/>
          </a:prstGeom>
          <a:solidFill>
            <a:srgbClr val="DC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603504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C6040"/>
                </a:solidFill>
                <a:latin typeface="Calibri"/>
              </a:rPr>
              <a:t>A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C2026"/>
                </a:solidFill>
                <a:latin typeface="Calibri"/>
              </a:rPr>
              <a:t>What Waypoint is not.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907792"/>
            <a:ext cx="164592" cy="164592"/>
          </a:xfrm>
          <a:prstGeom prst="ellipse">
            <a:avLst/>
          </a:prstGeom>
          <a:solidFill>
            <a:srgbClr val="DC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C2026"/>
                </a:solidFill>
                <a:latin typeface="Calibri"/>
              </a:rPr>
              <a:t>Not an OSINT or surveillance tool.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004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66E7A"/>
                </a:solidFill>
                <a:latin typeface="Calibri"/>
              </a:rPr>
              <a:t>Sharing is always user-initiated and visible to the person sharing.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050792"/>
            <a:ext cx="164592" cy="164592"/>
          </a:xfrm>
          <a:prstGeom prst="ellipse">
            <a:avLst/>
          </a:prstGeom>
          <a:solidFill>
            <a:srgbClr val="DC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8620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C2026"/>
                </a:solidFill>
                <a:latin typeface="Calibri"/>
              </a:rPr>
              <a:t>Not for tracking people on the public map.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3434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66E7A"/>
                </a:solidFill>
                <a:latin typeface="Calibri"/>
              </a:rPr>
              <a:t>Public pins are about places and services — never individuals.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5193792"/>
            <a:ext cx="164592" cy="164592"/>
          </a:xfrm>
          <a:prstGeom prst="ellipse">
            <a:avLst/>
          </a:prstGeom>
          <a:solidFill>
            <a:srgbClr val="DC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02920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C2026"/>
                </a:solidFill>
                <a:latin typeface="Calibri"/>
              </a:rPr>
              <a:t>Not persistent.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4864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66E7A"/>
                </a:solidFill>
                <a:latin typeface="Calibri"/>
              </a:rPr>
              <a:t>Location points are purged after 24 hours by a database job.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640080"/>
            <a:ext cx="256032" cy="256032"/>
          </a:xfrm>
          <a:prstGeom prst="ellipse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603504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9F8E"/>
                </a:solidFill>
                <a:latin typeface="Calibri"/>
              </a:rPr>
              <a:t>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C2026"/>
                </a:solidFill>
                <a:latin typeface="Calibri"/>
              </a:rPr>
              <a:t>Modern, security-forward, all-in-one.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06040"/>
            <a:ext cx="361188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606040"/>
            <a:ext cx="73152" cy="1417320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88036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C2026"/>
                </a:solidFill>
                <a:latin typeface="Calibri"/>
              </a:rPr>
              <a:t>Next.js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E7A"/>
                </a:solidFill>
                <a:latin typeface="Calibri"/>
              </a:rPr>
              <a:t>App Router  ·  TypeScript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606040"/>
            <a:ext cx="361188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606040"/>
            <a:ext cx="73152" cy="1417320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88036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C2026"/>
                </a:solidFill>
                <a:latin typeface="Calibri"/>
              </a:rPr>
              <a:t>Tailwind CSS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3832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E7A"/>
                </a:solidFill>
                <a:latin typeface="Calibri"/>
              </a:rPr>
              <a:t>Custom theme tokens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606040"/>
            <a:ext cx="361188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2606040"/>
            <a:ext cx="73152" cy="1417320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288036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C2026"/>
                </a:solidFill>
                <a:latin typeface="Calibri"/>
              </a:rPr>
              <a:t>Supabase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3832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E7A"/>
                </a:solidFill>
                <a:latin typeface="Calibri"/>
              </a:rPr>
              <a:t>Postgres  ·  Auth  ·  Realtime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51960"/>
            <a:ext cx="361188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251960"/>
            <a:ext cx="73152" cy="1417320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5262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C2026"/>
                </a:solidFill>
                <a:latin typeface="Calibri"/>
              </a:rPr>
              <a:t>PostGIS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02920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E7A"/>
                </a:solidFill>
                <a:latin typeface="Calibri"/>
              </a:rPr>
              <a:t>Geospatial queries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251960"/>
            <a:ext cx="361188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4251960"/>
            <a:ext cx="73152" cy="1417320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45262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C2026"/>
                </a:solidFill>
                <a:latin typeface="Calibri"/>
              </a:rPr>
              <a:t>Magic-link auth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502920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E7A"/>
                </a:solidFill>
                <a:latin typeface="Calibri"/>
              </a:rPr>
              <a:t>No passwords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4251960"/>
            <a:ext cx="361188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4251960"/>
            <a:ext cx="73152" cy="1417320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45262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C2026"/>
                </a:solidFill>
                <a:latin typeface="Calibri"/>
              </a:rPr>
              <a:t>Leaflet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502920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E7A"/>
                </a:solidFill>
                <a:latin typeface="Calibri"/>
              </a:rPr>
              <a:t>Live map  ·  CARTO tiles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640080"/>
            <a:ext cx="256032" cy="256032"/>
          </a:xfrm>
          <a:prstGeom prst="ellipse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603504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9F8E"/>
                </a:solidFill>
                <a:latin typeface="Calibri"/>
              </a:rPr>
              <a:t>SECURITY POSTURE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C2026"/>
                </a:solidFill>
                <a:latin typeface="Calibri"/>
              </a:rPr>
              <a:t>Default-deny, everywhere.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06040"/>
            <a:ext cx="502920" cy="502920"/>
          </a:xfrm>
          <a:prstGeom prst="ellipse">
            <a:avLst/>
          </a:prstGeom>
          <a:solidFill>
            <a:srgbClr val="E0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0E9F8E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1460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C2026"/>
                </a:solidFill>
                <a:latin typeface="Calibri"/>
              </a:rPr>
              <a:t>RLS on every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4617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66E7A"/>
                </a:solidFill>
                <a:latin typeface="Calibri"/>
              </a:rPr>
              <a:t>Row-level security enabled and forced — no implicit reads.</a:t>
            </a:r>
          </a:p>
        </p:txBody>
      </p:sp>
      <p:sp>
        <p:nvSpPr>
          <p:cNvPr id="10" name="Oval 9"/>
          <p:cNvSpPr/>
          <p:nvPr/>
        </p:nvSpPr>
        <p:spPr>
          <a:xfrm>
            <a:off x="6263640" y="2606040"/>
            <a:ext cx="502920" cy="502920"/>
          </a:xfrm>
          <a:prstGeom prst="ellipse">
            <a:avLst/>
          </a:prstGeom>
          <a:solidFill>
            <a:srgbClr val="E0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6060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0E9F8E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51460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C2026"/>
                </a:solidFill>
                <a:latin typeface="Calibri"/>
              </a:rPr>
              <a:t>Server-validated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3063240"/>
            <a:ext cx="4617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66E7A"/>
                </a:solidFill>
                <a:latin typeface="Calibri"/>
              </a:rPr>
              <a:t>Every form goes through Zod before it touches the database.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526280"/>
            <a:ext cx="502920" cy="502920"/>
          </a:xfrm>
          <a:prstGeom prst="ellipse">
            <a:avLst/>
          </a:prstGeom>
          <a:solidFill>
            <a:srgbClr val="E0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5262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0E9F8E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43484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C2026"/>
                </a:solidFill>
                <a:latin typeface="Calibri"/>
              </a:rPr>
              <a:t>24-hour location purge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983480"/>
            <a:ext cx="4617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66E7A"/>
                </a:solidFill>
                <a:latin typeface="Calibri"/>
              </a:rPr>
              <a:t>A pg_cron job deletes location points — UI bugs can't keep history.</a:t>
            </a:r>
          </a:p>
        </p:txBody>
      </p:sp>
      <p:sp>
        <p:nvSpPr>
          <p:cNvPr id="18" name="Oval 17"/>
          <p:cNvSpPr/>
          <p:nvPr/>
        </p:nvSpPr>
        <p:spPr>
          <a:xfrm>
            <a:off x="6263640" y="4526280"/>
            <a:ext cx="502920" cy="502920"/>
          </a:xfrm>
          <a:prstGeom prst="ellipse">
            <a:avLst/>
          </a:prstGeom>
          <a:solidFill>
            <a:srgbClr val="E0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45262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0E9F8E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443484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C2026"/>
                </a:solidFill>
                <a:latin typeface="Calibri"/>
              </a:rPr>
              <a:t>Strict CSP + headers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4983480"/>
            <a:ext cx="4617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66E7A"/>
                </a:solidFill>
                <a:latin typeface="Calibri"/>
              </a:rPr>
              <a:t>X-Frame-Options DENY, hardened referrer policy, no service key in browser.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640080"/>
            <a:ext cx="256032" cy="256032"/>
          </a:xfrm>
          <a:prstGeom prst="ellipse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603504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9F8E"/>
                </a:solidFill>
                <a:latin typeface="Calibri"/>
              </a:rPr>
              <a:t>WHERE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C2026"/>
                </a:solidFill>
                <a:latin typeface="Calibri"/>
              </a:rPr>
              <a:t>The map is live. Pins are next.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5440680" cy="3657600"/>
          </a:xfrm>
          <a:prstGeom prst="roundRect">
            <a:avLst>
              <a:gd name="adj" fmla="val 4000"/>
            </a:avLst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F4F0"/>
                </a:solidFill>
                <a:latin typeface="Calibri"/>
              </a:rPr>
              <a:t>PHASE 1 + 2  ·  SHIPPED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46120"/>
            <a:ext cx="4526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Live, end-to-end</a:t>
            </a:r>
          </a:p>
        </p:txBody>
      </p:sp>
      <p:sp>
        <p:nvSpPr>
          <p:cNvPr id="9" name="Oval 8"/>
          <p:cNvSpPr/>
          <p:nvPr/>
        </p:nvSpPr>
        <p:spPr>
          <a:xfrm>
            <a:off x="1143000" y="4270248"/>
            <a:ext cx="128016" cy="128016"/>
          </a:xfrm>
          <a:prstGeom prst="ellipse">
            <a:avLst/>
          </a:prstGeom>
          <a:solidFill>
            <a:srgbClr val="E0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4160520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Magic-link auth + 13+ confirmation</a:t>
            </a:r>
          </a:p>
        </p:txBody>
      </p:sp>
      <p:sp>
        <p:nvSpPr>
          <p:cNvPr id="11" name="Oval 10"/>
          <p:cNvSpPr/>
          <p:nvPr/>
        </p:nvSpPr>
        <p:spPr>
          <a:xfrm>
            <a:off x="1143000" y="4654296"/>
            <a:ext cx="128016" cy="128016"/>
          </a:xfrm>
          <a:prstGeom prst="ellipse">
            <a:avLst/>
          </a:prstGeom>
          <a:solidFill>
            <a:srgbClr val="E0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4544568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Persistent Leaflet map with CARTO tiles</a:t>
            </a:r>
          </a:p>
        </p:txBody>
      </p:sp>
      <p:sp>
        <p:nvSpPr>
          <p:cNvPr id="13" name="Oval 12"/>
          <p:cNvSpPr/>
          <p:nvPr/>
        </p:nvSpPr>
        <p:spPr>
          <a:xfrm>
            <a:off x="1143000" y="5038344"/>
            <a:ext cx="128016" cy="128016"/>
          </a:xfrm>
          <a:prstGeom prst="ellipse">
            <a:avLst/>
          </a:prstGeom>
          <a:solidFill>
            <a:srgbClr val="E0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4928616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Private Circles — create, join, leave</a:t>
            </a:r>
          </a:p>
        </p:txBody>
      </p:sp>
      <p:sp>
        <p:nvSpPr>
          <p:cNvPr id="15" name="Oval 14"/>
          <p:cNvSpPr/>
          <p:nvPr/>
        </p:nvSpPr>
        <p:spPr>
          <a:xfrm>
            <a:off x="1143000" y="5422392"/>
            <a:ext cx="128016" cy="128016"/>
          </a:xfrm>
          <a:prstGeom prst="ellipse">
            <a:avLst/>
          </a:prstGeom>
          <a:solidFill>
            <a:srgbClr val="E0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5312664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Live sharing with 30s write loop</a:t>
            </a:r>
          </a:p>
        </p:txBody>
      </p:sp>
      <p:sp>
        <p:nvSpPr>
          <p:cNvPr id="17" name="Oval 16"/>
          <p:cNvSpPr/>
          <p:nvPr/>
        </p:nvSpPr>
        <p:spPr>
          <a:xfrm>
            <a:off x="1143000" y="5806440"/>
            <a:ext cx="128016" cy="128016"/>
          </a:xfrm>
          <a:prstGeom prst="ellipse">
            <a:avLst/>
          </a:prstGeom>
          <a:solidFill>
            <a:srgbClr val="E0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5696712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Realtime member positions via Supabase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468880"/>
            <a:ext cx="544068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28346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C6040"/>
                </a:solidFill>
                <a:latin typeface="Calibri"/>
              </a:rPr>
              <a:t>PHASE 3  ·  NEXT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246120"/>
            <a:ext cx="4526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C2026"/>
                </a:solidFill>
                <a:latin typeface="Calibri"/>
              </a:rPr>
              <a:t>Places, not people</a:t>
            </a:r>
          </a:p>
        </p:txBody>
      </p:sp>
      <p:sp>
        <p:nvSpPr>
          <p:cNvPr id="22" name="Oval 21"/>
          <p:cNvSpPr/>
          <p:nvPr/>
        </p:nvSpPr>
        <p:spPr>
          <a:xfrm>
            <a:off x="6766560" y="4270248"/>
            <a:ext cx="128016" cy="128016"/>
          </a:xfrm>
          <a:prstGeom prst="ellipse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0" y="4160520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C2026"/>
                </a:solidFill>
                <a:latin typeface="Calibri"/>
              </a:rPr>
              <a:t>Public humanitarian pins UI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4654296"/>
            <a:ext cx="128016" cy="128016"/>
          </a:xfrm>
          <a:prstGeom prst="ellipse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4544568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C2026"/>
                </a:solidFill>
                <a:latin typeface="Calibri"/>
              </a:rPr>
              <a:t>Activity feed for circle events</a:t>
            </a:r>
          </a:p>
        </p:txBody>
      </p:sp>
      <p:sp>
        <p:nvSpPr>
          <p:cNvPr id="26" name="Oval 25"/>
          <p:cNvSpPr/>
          <p:nvPr/>
        </p:nvSpPr>
        <p:spPr>
          <a:xfrm>
            <a:off x="6766560" y="5038344"/>
            <a:ext cx="128016" cy="128016"/>
          </a:xfrm>
          <a:prstGeom prst="ellipse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4928616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C2026"/>
                </a:solidFill>
                <a:latin typeface="Calibri"/>
              </a:rPr>
              <a:t>Settings: profile, sessions, deletion</a:t>
            </a:r>
          </a:p>
        </p:txBody>
      </p:sp>
      <p:sp>
        <p:nvSpPr>
          <p:cNvPr id="28" name="Oval 27"/>
          <p:cNvSpPr/>
          <p:nvPr/>
        </p:nvSpPr>
        <p:spPr>
          <a:xfrm>
            <a:off x="6766560" y="5422392"/>
            <a:ext cx="128016" cy="128016"/>
          </a:xfrm>
          <a:prstGeom prst="ellipse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0" y="5312664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C2026"/>
                </a:solidFill>
                <a:latin typeface="Calibri"/>
              </a:rPr>
              <a:t>PWA install + background sync</a:t>
            </a:r>
          </a:p>
        </p:txBody>
      </p:sp>
      <p:sp>
        <p:nvSpPr>
          <p:cNvPr id="30" name="Oval 29"/>
          <p:cNvSpPr/>
          <p:nvPr/>
        </p:nvSpPr>
        <p:spPr>
          <a:xfrm>
            <a:off x="6766560" y="5806440"/>
            <a:ext cx="128016" cy="128016"/>
          </a:xfrm>
          <a:prstGeom prst="ellipse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0" y="5696712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C2026"/>
                </a:solidFill>
                <a:latin typeface="Calibri"/>
              </a:rPr>
              <a:t>Production tile provider swap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5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640080"/>
            <a:ext cx="256032" cy="256032"/>
          </a:xfrm>
          <a:prstGeom prst="ellipse">
            <a:avLst/>
          </a:prstGeom>
          <a:solidFill>
            <a:srgbClr val="E0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603504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F4F0"/>
                </a:solidFill>
                <a:latin typeface="Calibri"/>
              </a:rPr>
              <a:t>WAYPOINT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Sharing is a choice.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1">
                <a:solidFill>
                  <a:srgbClr val="0E9F8E"/>
                </a:solidFill>
                <a:latin typeface="Calibri"/>
              </a:rPr>
              <a:t>Built so it stays that 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0F4F0"/>
                </a:solidFill>
                <a:latin typeface="Calibri"/>
              </a:rPr>
              <a:t>waypoint  ·  next.js  ·  supabase  ·  postgis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